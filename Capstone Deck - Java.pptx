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9" r:id="rId5"/>
    <p:sldId id="272" r:id="rId6"/>
    <p:sldId id="261" r:id="rId7"/>
    <p:sldId id="262" r:id="rId8"/>
    <p:sldId id="273" r:id="rId9"/>
    <p:sldId id="263" r:id="rId10"/>
    <p:sldId id="275" r:id="rId11"/>
    <p:sldId id="274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02C"/>
    <a:srgbClr val="AFAAB9"/>
    <a:srgbClr val="71758A"/>
    <a:srgbClr val="D4EBD8"/>
    <a:srgbClr val="3B5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B8FBF1-F645-BB29-CF09-61EEAE8722D9}" v="846" dt="2025-05-04T12:24:31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omputer&#10;&#10;Description automatically generated">
            <a:extLst>
              <a:ext uri="{FF2B5EF4-FFF2-40B4-BE49-F238E27FC236}">
                <a16:creationId xmlns:a16="http://schemas.microsoft.com/office/drawing/2014/main" id="{7C2544A3-15A8-6276-0EF4-834C72E5CD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96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E8AA0-71CA-8ABC-3158-C76E10F8B6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194" cy="685698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E65F77D-830B-4587-6179-EAEFDB59DA9F}"/>
              </a:ext>
            </a:extLst>
          </p:cNvPr>
          <p:cNvGrpSpPr/>
          <p:nvPr userDrawn="1"/>
        </p:nvGrpSpPr>
        <p:grpSpPr>
          <a:xfrm>
            <a:off x="9865635" y="6420365"/>
            <a:ext cx="2243886" cy="375289"/>
            <a:chOff x="10212759" y="6518571"/>
            <a:chExt cx="1842973" cy="3133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F7F4F5-4091-F7DF-B5D7-27F2CF09B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2759" y="6518571"/>
              <a:ext cx="1842973" cy="31339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D479FE-F2A7-1259-E9F7-5B06988F5483}"/>
                </a:ext>
              </a:extLst>
            </p:cNvPr>
            <p:cNvSpPr/>
            <p:nvPr/>
          </p:nvSpPr>
          <p:spPr>
            <a:xfrm>
              <a:off x="10248188" y="6547414"/>
              <a:ext cx="1613629" cy="2570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Helvetica" panose="020B0604020202030204" pitchFamily="34" charset="0"/>
                  <a:cs typeface="Segoe UI" panose="020B0502040204020203" pitchFamily="34" charset="0"/>
                </a:rPr>
                <a:t>www.collaberadigital.com</a:t>
              </a:r>
              <a:endParaRPr lang="en-IN" sz="1400" dirty="0">
                <a:solidFill>
                  <a:schemeClr val="bg1"/>
                </a:solidFill>
                <a:latin typeface="Helvetica" panose="020B0604020202030204" pitchFamily="34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D3E0E5C-9845-273F-56DA-9B3EDBB349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063"/>
          <a:stretch/>
        </p:blipFill>
        <p:spPr>
          <a:xfrm>
            <a:off x="1524" y="0"/>
            <a:ext cx="12188951" cy="15040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26341B-E791-8397-013A-AE21E4F2BB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354" y="53050"/>
            <a:ext cx="1534767" cy="7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38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2F81F2-6943-BD2A-4FF4-E7B5E1C42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08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76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2E4B68A4-8690-EBA2-0E25-8D52163C04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28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674B4E-3A36-AE80-F596-88EAFA8D99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2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A9CB-EA19-2393-BF51-26E7F235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29783-5D87-872F-CAFD-AB55F8755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05066-0C5F-10FD-4732-99040837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2018-9FCD-4D25-B6CE-F2EE6554B948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0B538-C4AD-1054-4F47-764801D0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317CC-9EF1-8073-3DEB-C5C7EA49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2F-5455-4825-B5D5-E4B9DF796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21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55309-23B4-3FB1-A899-9932B6216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C846A-535B-C8A0-F5CA-2FAC0413A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76679-D4C2-F46B-DCF3-2251FEF1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2018-9FCD-4D25-B6CE-F2EE6554B948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8B2AE-FB27-C6BC-15F6-84B10699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25CC4-38E9-98A1-F885-2B6A6D45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2F-5455-4825-B5D5-E4B9DF796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3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628D0-6D27-3A22-3CBC-5435A86B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248BE-D040-3D21-3A61-EE22584BB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81DDF-7CC1-D788-F48E-8EBA8012A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02018-9FCD-4D25-B6CE-F2EE6554B948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AD2C6-7BBE-418E-D4F1-DD5A8D5A0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6D678-3C77-7F4A-530D-35BE9C7A2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5F92F-5455-4825-B5D5-E4B9DF796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0ABB8D-A9B1-BF5E-8E51-DAC64CE57FBB}"/>
              </a:ext>
            </a:extLst>
          </p:cNvPr>
          <p:cNvSpPr txBox="1"/>
          <p:nvPr/>
        </p:nvSpPr>
        <p:spPr>
          <a:xfrm>
            <a:off x="3367314" y="1995047"/>
            <a:ext cx="5457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Capstone</a:t>
            </a:r>
            <a:br>
              <a:rPr lang="en-US" sz="6000" b="1" dirty="0"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</a:br>
            <a:r>
              <a:rPr lang="en-US" sz="6000" b="1" dirty="0"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Project</a:t>
            </a:r>
            <a:endParaRPr lang="en-GB" sz="6000" b="1" dirty="0">
              <a:latin typeface="Neue Machina" panose="00000500000000000000" pitchFamily="50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8FE0234-23EC-7806-340E-632A55BD404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DA6FF-6F44-C06C-54EB-E08AF6143311}"/>
              </a:ext>
            </a:extLst>
          </p:cNvPr>
          <p:cNvSpPr txBox="1"/>
          <p:nvPr/>
        </p:nvSpPr>
        <p:spPr>
          <a:xfrm>
            <a:off x="323850" y="465316"/>
            <a:ext cx="4880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Personal BACKGROUND</a:t>
            </a:r>
            <a:endParaRPr lang="en-GB" sz="2400" b="1" dirty="0">
              <a:latin typeface="Neue Machina" panose="000005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74569-3E72-209E-3294-60EB4C694B43}"/>
              </a:ext>
            </a:extLst>
          </p:cNvPr>
          <p:cNvSpPr txBox="1"/>
          <p:nvPr/>
        </p:nvSpPr>
        <p:spPr>
          <a:xfrm>
            <a:off x="323850" y="940013"/>
            <a:ext cx="7865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(Name, Past Experience, Qualification, Career Summary)</a:t>
            </a:r>
            <a:endParaRPr lang="en-GB" dirty="0">
              <a:latin typeface="Neue Machina" panose="000005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A408B-108E-8EA9-DA0A-9F0FA1CD9B17}"/>
              </a:ext>
            </a:extLst>
          </p:cNvPr>
          <p:cNvSpPr txBox="1"/>
          <p:nvPr/>
        </p:nvSpPr>
        <p:spPr>
          <a:xfrm>
            <a:off x="338405" y="1730355"/>
            <a:ext cx="312213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800" b="1" dirty="0">
                <a:effectLst/>
                <a:latin typeface="Neue Machina"/>
                <a:ea typeface="Calibri" panose="020F0502020204030204" pitchFamily="34" charset="0"/>
              </a:rPr>
              <a:t>Name :</a:t>
            </a:r>
            <a:r>
              <a:rPr lang="en-IN" b="1" dirty="0">
                <a:latin typeface="Neue Machina"/>
                <a:ea typeface="Calibri" panose="020F0502020204030204" pitchFamily="34" charset="0"/>
              </a:rPr>
              <a:t> Gelle Hruthesh Reddy</a:t>
            </a:r>
            <a:endParaRPr lang="en-GB" b="1" dirty="0">
              <a:latin typeface="Neue Machina" panose="000005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A3C17-90A3-F93F-5D84-D3D378E1ACB2}"/>
              </a:ext>
            </a:extLst>
          </p:cNvPr>
          <p:cNvSpPr txBox="1"/>
          <p:nvPr/>
        </p:nvSpPr>
        <p:spPr>
          <a:xfrm>
            <a:off x="350128" y="2606592"/>
            <a:ext cx="66040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800" b="1" dirty="0">
                <a:effectLst/>
                <a:ea typeface="+mn-lt"/>
                <a:cs typeface="+mn-lt"/>
              </a:rPr>
              <a:t>Past Experience</a:t>
            </a:r>
            <a:r>
              <a:rPr lang="en-IN" b="1" dirty="0">
                <a:ea typeface="+mn-lt"/>
                <a:cs typeface="+mn-lt"/>
              </a:rPr>
              <a:t> </a:t>
            </a:r>
            <a:r>
              <a:rPr lang="en-IN" sz="1800" b="1" dirty="0">
                <a:effectLst/>
                <a:ea typeface="+mn-lt"/>
                <a:cs typeface="+mn-lt"/>
              </a:rPr>
              <a:t>:</a:t>
            </a:r>
            <a:r>
              <a:rPr lang="en-IN" dirty="0">
                <a:ea typeface="+mn-lt"/>
                <a:cs typeface="+mn-lt"/>
              </a:rPr>
              <a:t> Worked on full-stack web applications using the MERN stack and built AI/ML projects using Python and </a:t>
            </a:r>
            <a:r>
              <a:rPr lang="en-IN" dirty="0" err="1">
                <a:ea typeface="+mn-lt"/>
                <a:cs typeface="+mn-lt"/>
              </a:rPr>
              <a:t>PyTorch</a:t>
            </a:r>
            <a:r>
              <a:rPr lang="en-IN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AE72A-AEC0-D00B-117C-50F93D7FACDF}"/>
              </a:ext>
            </a:extLst>
          </p:cNvPr>
          <p:cNvSpPr txBox="1"/>
          <p:nvPr/>
        </p:nvSpPr>
        <p:spPr>
          <a:xfrm>
            <a:off x="348702" y="3559505"/>
            <a:ext cx="578048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800" b="1" dirty="0">
                <a:effectLst/>
                <a:latin typeface="Neue Machina"/>
                <a:ea typeface="Calibri" panose="020F0502020204030204" pitchFamily="34" charset="0"/>
              </a:rPr>
              <a:t>Qualification :</a:t>
            </a:r>
            <a:r>
              <a:rPr lang="en-IN" b="1" dirty="0">
                <a:latin typeface="Neue Machina"/>
                <a:ea typeface="Calibri" panose="020F0502020204030204" pitchFamily="34" charset="0"/>
              </a:rPr>
              <a:t> Bachelor of Technology in Computer Science</a:t>
            </a:r>
            <a:endParaRPr lang="en-GB" b="1" dirty="0" err="1">
              <a:latin typeface="Neue Machina" panose="000005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B1C4D-84C8-31FA-3922-10AC6E28778E}"/>
              </a:ext>
            </a:extLst>
          </p:cNvPr>
          <p:cNvSpPr txBox="1"/>
          <p:nvPr/>
        </p:nvSpPr>
        <p:spPr>
          <a:xfrm>
            <a:off x="339831" y="4288728"/>
            <a:ext cx="6295407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IN" sz="1800" b="1" dirty="0">
                <a:effectLst/>
                <a:latin typeface="Neue Machina"/>
                <a:ea typeface="Calibri" panose="020F0502020204030204" pitchFamily="34" charset="0"/>
              </a:rPr>
              <a:t>Career Summary :</a:t>
            </a:r>
            <a:r>
              <a:rPr lang="en-IN" b="1" dirty="0">
                <a:latin typeface="Neue Machina"/>
                <a:ea typeface="Calibri" panose="020F0502020204030204" pitchFamily="34" charset="0"/>
              </a:rPr>
              <a:t> </a:t>
            </a:r>
            <a:endParaRPr lang="en-GB" b="1" dirty="0">
              <a:latin typeface="Neue Machina" panose="00000500000000000000" pitchFamily="50" charset="0"/>
              <a:ea typeface="+mn-lt"/>
              <a:cs typeface="+mn-lt"/>
            </a:endParaRPr>
          </a:p>
          <a:p>
            <a:pPr algn="just"/>
            <a:r>
              <a:rPr lang="en-IN" dirty="0">
                <a:ea typeface="+mn-lt"/>
                <a:cs typeface="+mn-lt"/>
              </a:rPr>
              <a:t>A Bachelor of Technology in Computer Science graduate with a solid foundation in software development and a passion for full-stack development and AI/ML. Experienced in building web applications using the MERN stack and developing intelligent solutions with Python. Eager to contribute to a dynamic tech environment.</a:t>
            </a:r>
            <a:endParaRPr lang="en-GB" dirty="0">
              <a:ea typeface="+mn-lt"/>
              <a:cs typeface="+mn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EBA3E50-760C-4B48-105E-E945156BB4B8}"/>
              </a:ext>
            </a:extLst>
          </p:cNvPr>
          <p:cNvGrpSpPr/>
          <p:nvPr/>
        </p:nvGrpSpPr>
        <p:grpSpPr>
          <a:xfrm>
            <a:off x="9574540" y="6420365"/>
            <a:ext cx="2243886" cy="375289"/>
            <a:chOff x="10212759" y="6518571"/>
            <a:chExt cx="1842973" cy="31339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E71206E-49DD-6821-C349-BF92F187E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2759" y="6518571"/>
              <a:ext cx="1842973" cy="31339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F6DD2B-5B85-359C-4FBD-B253EDD278C8}"/>
                </a:ext>
              </a:extLst>
            </p:cNvPr>
            <p:cNvSpPr/>
            <p:nvPr/>
          </p:nvSpPr>
          <p:spPr>
            <a:xfrm>
              <a:off x="10248188" y="6547414"/>
              <a:ext cx="1613629" cy="2570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Helvetica" panose="020B0604020202030204" pitchFamily="34" charset="0"/>
                  <a:cs typeface="Segoe UI" panose="020B0502040204020203" pitchFamily="34" charset="0"/>
                </a:rPr>
                <a:t>www.collaberadigital.com</a:t>
              </a:r>
              <a:endParaRPr lang="en-IN" sz="1400" dirty="0">
                <a:solidFill>
                  <a:schemeClr val="bg1"/>
                </a:solidFill>
                <a:latin typeface="Helvetica" panose="020B0604020202030204" pitchFamily="34" charset="0"/>
              </a:endParaRPr>
            </a:p>
          </p:txBody>
        </p:sp>
      </p:grpSp>
      <p:pic>
        <p:nvPicPr>
          <p:cNvPr id="11" name="Content Placeholder 7" descr="A shadow of a person holding a piece of paper&#10;&#10;Description automatically generated with medium confidence">
            <a:extLst>
              <a:ext uri="{FF2B5EF4-FFF2-40B4-BE49-F238E27FC236}">
                <a16:creationId xmlns:a16="http://schemas.microsoft.com/office/drawing/2014/main" id="{DC448513-01ED-D953-1310-6C67CD5329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54" r="21746"/>
          <a:stretch/>
        </p:blipFill>
        <p:spPr>
          <a:xfrm>
            <a:off x="7556763" y="0"/>
            <a:ext cx="4635237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E060AA3-7941-8126-2364-D4ADA04CFD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0623" y="0"/>
            <a:ext cx="2401377" cy="90222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93E662-DEF3-AC26-DAC6-B46F4CFDCDCC}"/>
              </a:ext>
            </a:extLst>
          </p:cNvPr>
          <p:cNvSpPr/>
          <p:nvPr/>
        </p:nvSpPr>
        <p:spPr>
          <a:xfrm>
            <a:off x="4740604" y="-930885"/>
            <a:ext cx="513567" cy="513567"/>
          </a:xfrm>
          <a:prstGeom prst="rect">
            <a:avLst/>
          </a:prstGeom>
          <a:solidFill>
            <a:srgbClr val="7175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7653B8-8986-53CB-65C9-A4869AC37323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38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" descr="A picture containing grate&#10;&#10;Description automatically generated">
            <a:extLst>
              <a:ext uri="{FF2B5EF4-FFF2-40B4-BE49-F238E27FC236}">
                <a16:creationId xmlns:a16="http://schemas.microsoft.com/office/drawing/2014/main" id="{37D42EBD-34CB-B25E-42E2-257C43629C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0" r="16904"/>
          <a:stretch/>
        </p:blipFill>
        <p:spPr>
          <a:xfrm>
            <a:off x="7695292" y="0"/>
            <a:ext cx="4496708" cy="6858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9FC0F81-B480-D9C4-934C-7D63DE92E0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30E22-84C3-33DE-6F74-CB73EF6B951D}"/>
              </a:ext>
            </a:extLst>
          </p:cNvPr>
          <p:cNvSpPr txBox="1"/>
          <p:nvPr/>
        </p:nvSpPr>
        <p:spPr>
          <a:xfrm>
            <a:off x="330200" y="898276"/>
            <a:ext cx="703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Key Takeaways/Learnings from the Program (HTD)</a:t>
            </a:r>
            <a:endParaRPr lang="en-GB" sz="1800" b="1" dirty="0">
              <a:latin typeface="Neue Machina" panose="00000500000000000000" pitchFamily="50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F4FCA6-FB82-1914-FF20-DF179A378A62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9A1B674-57C3-4411-C550-91B1AA71F123}"/>
              </a:ext>
            </a:extLst>
          </p:cNvPr>
          <p:cNvSpPr txBox="1"/>
          <p:nvPr/>
        </p:nvSpPr>
        <p:spPr>
          <a:xfrm>
            <a:off x="169730" y="1688090"/>
            <a:ext cx="720031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Java Proficiency:</a:t>
            </a:r>
            <a:r>
              <a:rPr lang="en-US" sz="2400" dirty="0">
                <a:ea typeface="+mn-lt"/>
                <a:cs typeface="+mn-lt"/>
              </a:rPr>
              <a:t> Strong understanding of OOP principles, exception handling, and multithreading</a:t>
            </a:r>
          </a:p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Database &amp; JDBC:</a:t>
            </a:r>
            <a:r>
              <a:rPr lang="en-US" sz="2400" dirty="0">
                <a:ea typeface="+mn-lt"/>
                <a:cs typeface="+mn-lt"/>
              </a:rPr>
              <a:t> Practical knowledge of SQL queries and integrating Java applications with MySQL using JDBC.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Spring &amp; Microservices:</a:t>
            </a:r>
            <a:r>
              <a:rPr lang="en-US" sz="2400" dirty="0">
                <a:ea typeface="+mn-lt"/>
                <a:cs typeface="+mn-lt"/>
              </a:rPr>
              <a:t> Built scalable RESTful applications using Spring Boot, and Spring Data JPA. Exposure to microservices architecture, service discovery, and API gateways.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API Development &amp; Testing:</a:t>
            </a:r>
            <a:r>
              <a:rPr lang="en-US" sz="2400" dirty="0">
                <a:ea typeface="+mn-lt"/>
                <a:cs typeface="+mn-lt"/>
              </a:rPr>
              <a:t> Proficient in working with REST APIs, HTTP methods, and testing APIs using Postman, including automation and chaining requests.</a:t>
            </a:r>
            <a:endParaRPr lang="en-US" sz="2400" dirty="0">
              <a:cs typeface="Calibri"/>
            </a:endParaRPr>
          </a:p>
          <a:p>
            <a:endParaRPr lang="en-US" dirty="0">
              <a:ea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2102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55063D-F1F4-B0DA-30AC-5261138A1501}"/>
              </a:ext>
            </a:extLst>
          </p:cNvPr>
          <p:cNvSpPr txBox="1"/>
          <p:nvPr/>
        </p:nvSpPr>
        <p:spPr>
          <a:xfrm>
            <a:off x="323850" y="902226"/>
            <a:ext cx="5673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/>
                <a:latin typeface="Neue Machina" panose="00000500000000000000" pitchFamily="50" charset="0"/>
                <a:ea typeface="Calibri" panose="020F0502020204030204" pitchFamily="34" charset="0"/>
                <a:cs typeface="Segoe UI" panose="020B0502040204020203" pitchFamily="34" charset="0"/>
              </a:rPr>
              <a:t>Problem Statement of the Capstone Project</a:t>
            </a:r>
            <a:endParaRPr lang="en-GB" b="1" dirty="0">
              <a:latin typeface="Neue Machina" panose="00000500000000000000" pitchFamily="50" charset="0"/>
              <a:cs typeface="Segoe UI" panose="020B0502040204020203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BCFCB1-DC7D-6574-5BB6-98A1F9330D8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pic>
        <p:nvPicPr>
          <p:cNvPr id="5" name="Content Placeholder 10" descr="A picture containing outdoor, jumping, air&#10;&#10;Description automatically generated">
            <a:extLst>
              <a:ext uri="{FF2B5EF4-FFF2-40B4-BE49-F238E27FC236}">
                <a16:creationId xmlns:a16="http://schemas.microsoft.com/office/drawing/2014/main" id="{14B84D51-9BF9-004F-8C43-384ACE5D686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9" r="17942"/>
          <a:stretch/>
        </p:blipFill>
        <p:spPr>
          <a:xfrm>
            <a:off x="7705639" y="1"/>
            <a:ext cx="4486361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91974B-0397-ACC8-37B6-992E943C7B33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4E196C-6AFB-1C42-1AB0-19FF1BE8E7CF}"/>
              </a:ext>
            </a:extLst>
          </p:cNvPr>
          <p:cNvSpPr txBox="1"/>
          <p:nvPr/>
        </p:nvSpPr>
        <p:spPr>
          <a:xfrm>
            <a:off x="324162" y="2089711"/>
            <a:ext cx="663915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ea typeface="+mn-lt"/>
                <a:cs typeface="+mn-lt"/>
              </a:rPr>
              <a:t>Develop a simplified job board platform using React, Spring Boot, and MySQL that enables users to browse, search, and apply for jobs with ease. The application emphasizes user-friendly navigation, role-based search, and application submission, while showcasing full-stack development skills and best practices.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618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70B435F-8BC0-8A7B-6294-85CE9B84AFC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2FF82F-5501-977F-6AAC-5D63218C99A4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6BBE2E-E6D6-D9F2-AAC3-4C89EA6E08BB}"/>
              </a:ext>
            </a:extLst>
          </p:cNvPr>
          <p:cNvSpPr txBox="1"/>
          <p:nvPr/>
        </p:nvSpPr>
        <p:spPr>
          <a:xfrm>
            <a:off x="323850" y="902226"/>
            <a:ext cx="567315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b="1" dirty="0">
                <a:latin typeface="Neue Machina"/>
                <a:ea typeface="Calibri" panose="020F0502020204030204" pitchFamily="34" charset="0"/>
                <a:cs typeface="Segoe UI"/>
              </a:rPr>
              <a:t>Flowchart</a:t>
            </a:r>
            <a:r>
              <a:rPr lang="en-IN" b="1" dirty="0">
                <a:effectLst/>
                <a:latin typeface="Neue Machina"/>
                <a:ea typeface="Calibri" panose="020F0502020204030204" pitchFamily="34" charset="0"/>
                <a:cs typeface="Segoe UI"/>
              </a:rPr>
              <a:t> of the </a:t>
            </a:r>
            <a:r>
              <a:rPr lang="en-IN" b="1" dirty="0">
                <a:latin typeface="Neue Machina"/>
                <a:ea typeface="Calibri" panose="020F0502020204030204" pitchFamily="34" charset="0"/>
                <a:cs typeface="Segoe UI"/>
              </a:rPr>
              <a:t>Project</a:t>
            </a:r>
            <a:endParaRPr lang="en-GB" b="1">
              <a:latin typeface="Neue Machina"/>
              <a:cs typeface="Segoe UI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3353913-AACD-D85E-21A8-3935DBC5D31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747" y="152400"/>
            <a:ext cx="2401377" cy="90222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DEBFFC-23A6-70D1-AD41-62804B5580BF}"/>
              </a:ext>
            </a:extLst>
          </p:cNvPr>
          <p:cNvCxnSpPr/>
          <p:nvPr/>
        </p:nvCxnSpPr>
        <p:spPr>
          <a:xfrm>
            <a:off x="321791" y="1309301"/>
            <a:ext cx="630555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 descr="A diagram of a work flow&#10;&#10;AI-generated content may be incorrect.">
            <a:extLst>
              <a:ext uri="{FF2B5EF4-FFF2-40B4-BE49-F238E27FC236}">
                <a16:creationId xmlns:a16="http://schemas.microsoft.com/office/drawing/2014/main" id="{62BC4DDA-6AEC-DE9A-F53E-E7841E4EDB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329" y="1399918"/>
            <a:ext cx="7126502" cy="507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6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58CAEF-7789-12A7-03CB-61B59902F5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E07ED2-FAB3-CE97-B1F9-0F4CCC4E95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1B970E-992F-42D0-4FC1-CB5C276E94F2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1F52B0-01B0-464B-27AE-9977A17E5138}"/>
              </a:ext>
            </a:extLst>
          </p:cNvPr>
          <p:cNvSpPr txBox="1"/>
          <p:nvPr/>
        </p:nvSpPr>
        <p:spPr>
          <a:xfrm>
            <a:off x="561040" y="2094787"/>
            <a:ext cx="10869235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A </a:t>
            </a: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My Applications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page where users can view all the jobs they have applied for, including job title, company name, and application status, helping them track their submissions easily.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A </a:t>
            </a: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Responsive Design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that ensures the entire application – including landing page, job search, job details, and application form – works seamlessly across desktop, tablet, and mobile devices for a consistent user experience.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just"/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180A5-6F17-7598-8335-A077F5D535B7}"/>
              </a:ext>
            </a:extLst>
          </p:cNvPr>
          <p:cNvSpPr txBox="1"/>
          <p:nvPr/>
        </p:nvSpPr>
        <p:spPr>
          <a:xfrm>
            <a:off x="323850" y="902226"/>
            <a:ext cx="567315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Neue Machina"/>
                <a:ea typeface="Calibri" panose="020F0502020204030204" pitchFamily="34" charset="0"/>
                <a:cs typeface="Segoe UI"/>
              </a:rPr>
              <a:t>Additional features to</a:t>
            </a:r>
            <a:r>
              <a:rPr lang="en-IN" b="1" dirty="0">
                <a:solidFill>
                  <a:schemeClr val="bg1"/>
                </a:solidFill>
                <a:effectLst/>
                <a:latin typeface="Neue Machina"/>
                <a:ea typeface="Calibri" panose="020F0502020204030204" pitchFamily="34" charset="0"/>
                <a:cs typeface="Segoe UI"/>
              </a:rPr>
              <a:t> the </a:t>
            </a:r>
            <a:r>
              <a:rPr lang="en-IN" b="1" dirty="0">
                <a:solidFill>
                  <a:schemeClr val="bg1"/>
                </a:solidFill>
                <a:latin typeface="Neue Machina"/>
                <a:ea typeface="Calibri" panose="020F0502020204030204" pitchFamily="34" charset="0"/>
                <a:cs typeface="Segoe UI"/>
              </a:rPr>
              <a:t>Project</a:t>
            </a:r>
            <a:endParaRPr lang="en-GB" b="1" dirty="0">
              <a:solidFill>
                <a:schemeClr val="bg1"/>
              </a:solidFill>
              <a:latin typeface="Neue Machi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9033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4D6C4C-5C98-9073-79FB-D0A741C842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0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FD7FB-BF20-EC66-9F7B-A95E73215B53}"/>
              </a:ext>
            </a:extLst>
          </p:cNvPr>
          <p:cNvSpPr txBox="1"/>
          <p:nvPr/>
        </p:nvSpPr>
        <p:spPr>
          <a:xfrm>
            <a:off x="181439" y="872000"/>
            <a:ext cx="809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Neue Machina" panose="00000500000000000000" pitchFamily="50" charset="0"/>
                <a:ea typeface="Calibri" panose="020F0502020204030204" pitchFamily="34" charset="0"/>
              </a:rPr>
              <a:t>List of tools used for Capstone</a:t>
            </a:r>
            <a:endParaRPr lang="en-GB" sz="2400" b="1" dirty="0">
              <a:solidFill>
                <a:schemeClr val="bg1"/>
              </a:solidFill>
              <a:latin typeface="Neue Machina" panose="00000500000000000000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44F5327-F834-7C83-D21F-86BBBBB405D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DA77FF-97D7-0118-85BE-4E1483DB6EDE}"/>
              </a:ext>
            </a:extLst>
          </p:cNvPr>
          <p:cNvCxnSpPr/>
          <p:nvPr/>
        </p:nvCxnSpPr>
        <p:spPr>
          <a:xfrm>
            <a:off x="1085850" y="1333665"/>
            <a:ext cx="63055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FDD73A7-11D2-4255-C16B-D53A9016D063}"/>
              </a:ext>
            </a:extLst>
          </p:cNvPr>
          <p:cNvSpPr txBox="1"/>
          <p:nvPr/>
        </p:nvSpPr>
        <p:spPr>
          <a:xfrm>
            <a:off x="782216" y="1966066"/>
            <a:ext cx="10637762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React 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for Front-end development framework for creating responsive and interactive user interfaces.</a:t>
            </a:r>
            <a:endParaRPr lang="en-US" sz="2400">
              <a:solidFill>
                <a:schemeClr val="bg1"/>
              </a:solidFill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Material UI 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for styling with modern, consistent design elements.</a:t>
            </a:r>
            <a:endParaRPr lang="en-US" sz="2400">
              <a:solidFill>
                <a:schemeClr val="bg1"/>
              </a:solidFill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Spring Boot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for building robust and scalable backend APIs using Java, including RESTful services.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Spring Data JPA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for simplifying database interaction and ORM mapping between Java classes and MySQL tables.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MySQL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for storing job listings and user application data in a relational database.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Postman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for testing RESTful API endpoints during backend development and debugging.</a:t>
            </a:r>
          </a:p>
          <a:p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5309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4D6C4C-5C98-9073-79FB-D0A741C842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0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FD7FB-BF20-EC66-9F7B-A95E73215B53}"/>
              </a:ext>
            </a:extLst>
          </p:cNvPr>
          <p:cNvSpPr txBox="1"/>
          <p:nvPr/>
        </p:nvSpPr>
        <p:spPr>
          <a:xfrm>
            <a:off x="181439" y="872000"/>
            <a:ext cx="809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Important areas of the Project with screenshots</a:t>
            </a:r>
            <a:endParaRPr lang="en-GB" sz="2400" b="1" dirty="0">
              <a:solidFill>
                <a:schemeClr val="bg1"/>
              </a:solidFill>
              <a:latin typeface="Neue Machina" panose="00000500000000000000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44F5327-F834-7C83-D21F-86BBBBB405D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DA77FF-97D7-0118-85BE-4E1483DB6EDE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5E3A08F-7B26-633B-091A-C87E1DE11A5A}"/>
              </a:ext>
            </a:extLst>
          </p:cNvPr>
          <p:cNvSpPr txBox="1"/>
          <p:nvPr/>
        </p:nvSpPr>
        <p:spPr>
          <a:xfrm>
            <a:off x="2408576" y="5779905"/>
            <a:ext cx="17243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Home 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7BE58-2EDA-4BDE-9924-32ADAD0600E8}"/>
              </a:ext>
            </a:extLst>
          </p:cNvPr>
          <p:cNvSpPr txBox="1"/>
          <p:nvPr/>
        </p:nvSpPr>
        <p:spPr>
          <a:xfrm>
            <a:off x="8556063" y="5779904"/>
            <a:ext cx="2156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Calibri"/>
              </a:rPr>
              <a:t>All Jobs Page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411A3-5A8F-B99D-E7D1-8A90527B831B}"/>
              </a:ext>
            </a:extLst>
          </p:cNvPr>
          <p:cNvSpPr txBox="1"/>
          <p:nvPr/>
        </p:nvSpPr>
        <p:spPr>
          <a:xfrm>
            <a:off x="318225" y="1352066"/>
            <a:ext cx="1170238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Home Page: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Users can view a welcome message, featured jobs, and search for roles.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All Jobs Page: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Users can browse and search all available job listings.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DE1E1444-1F36-F298-680C-ACDB4CC7D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16" y="2787252"/>
            <a:ext cx="5663515" cy="2776605"/>
          </a:xfrm>
          <a:prstGeom prst="rect">
            <a:avLst/>
          </a:prstGeom>
        </p:spPr>
      </p:pic>
      <p:pic>
        <p:nvPicPr>
          <p:cNvPr id="12" name="Picture 11" descr="A screenshot of a search engine&#10;&#10;AI-generated content may be incorrect.">
            <a:extLst>
              <a:ext uri="{FF2B5EF4-FFF2-40B4-BE49-F238E27FC236}">
                <a16:creationId xmlns:a16="http://schemas.microsoft.com/office/drawing/2014/main" id="{6A30AFD5-9952-7051-CFAB-D9EBEF3AA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351" y="2783992"/>
            <a:ext cx="5745893" cy="27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C74AF3-B960-23E5-3A1F-92B53A264E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0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0FD24-3DA2-C5E6-0DF3-C35FEC9F1972}"/>
              </a:ext>
            </a:extLst>
          </p:cNvPr>
          <p:cNvSpPr txBox="1"/>
          <p:nvPr/>
        </p:nvSpPr>
        <p:spPr>
          <a:xfrm>
            <a:off x="181439" y="872000"/>
            <a:ext cx="809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Important areas of the Project with screenshots</a:t>
            </a:r>
            <a:endParaRPr lang="en-GB" sz="2400" b="1" dirty="0">
              <a:solidFill>
                <a:schemeClr val="bg1"/>
              </a:solidFill>
              <a:latin typeface="Neue Machina" panose="00000500000000000000" pitchFamily="50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E1F97-8995-CCFD-FAAB-FE16935CBD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9ABCFC-AEA4-FCA7-62F5-F1204AFD904C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4145212-CAE1-7632-E734-41795EF29738}"/>
              </a:ext>
            </a:extLst>
          </p:cNvPr>
          <p:cNvSpPr txBox="1"/>
          <p:nvPr/>
        </p:nvSpPr>
        <p:spPr>
          <a:xfrm>
            <a:off x="2089360" y="5954958"/>
            <a:ext cx="20332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Calibri"/>
              </a:rPr>
              <a:t>Search Results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1AFAE-9437-1790-D18E-02EFCC9F8A0A}"/>
              </a:ext>
            </a:extLst>
          </p:cNvPr>
          <p:cNvSpPr txBox="1"/>
          <p:nvPr/>
        </p:nvSpPr>
        <p:spPr>
          <a:xfrm>
            <a:off x="8267738" y="5954958"/>
            <a:ext cx="2053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Calibri"/>
              </a:rPr>
              <a:t>Job Details Page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49ADA-90AF-062E-110B-E1BB3C9068A9}"/>
              </a:ext>
            </a:extLst>
          </p:cNvPr>
          <p:cNvSpPr txBox="1"/>
          <p:nvPr/>
        </p:nvSpPr>
        <p:spPr>
          <a:xfrm>
            <a:off x="328522" y="1403552"/>
            <a:ext cx="1170238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Search Results Page: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Users can view jobs filtered by the searched role.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Job Details Page: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Users can view full details of a selected job and apply.</a:t>
            </a:r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9C6568-DCC8-B08B-2A10-381EF6770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864" y="2935094"/>
            <a:ext cx="5817974" cy="2789840"/>
          </a:xfrm>
          <a:prstGeom prst="rect">
            <a:avLst/>
          </a:prstGeom>
        </p:spPr>
      </p:pic>
      <p:pic>
        <p:nvPicPr>
          <p:cNvPr id="14" name="Picture 13" descr="A screenshot of a search results page&#10;&#10;AI-generated content may be incorrect.">
            <a:extLst>
              <a:ext uri="{FF2B5EF4-FFF2-40B4-BE49-F238E27FC236}">
                <a16:creationId xmlns:a16="http://schemas.microsoft.com/office/drawing/2014/main" id="{FD75DA51-E05B-37B8-3A70-286E3E21C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351" y="2960482"/>
            <a:ext cx="5838568" cy="274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97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C74AF3-B960-23E5-3A1F-92B53A264E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0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0FD24-3DA2-C5E6-0DF3-C35FEC9F1972}"/>
              </a:ext>
            </a:extLst>
          </p:cNvPr>
          <p:cNvSpPr txBox="1"/>
          <p:nvPr/>
        </p:nvSpPr>
        <p:spPr>
          <a:xfrm>
            <a:off x="181439" y="872000"/>
            <a:ext cx="809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Important areas of the Project with screenshots</a:t>
            </a:r>
            <a:endParaRPr lang="en-GB" sz="2400" b="1" dirty="0">
              <a:solidFill>
                <a:schemeClr val="bg1"/>
              </a:solidFill>
              <a:latin typeface="Neue Machina" panose="00000500000000000000" pitchFamily="50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E1F97-8995-CCFD-FAAB-FE16935CBD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9ABCFC-AEA4-FCA7-62F5-F1204AFD904C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4145212-CAE1-7632-E734-41795EF29738}"/>
              </a:ext>
            </a:extLst>
          </p:cNvPr>
          <p:cNvSpPr txBox="1"/>
          <p:nvPr/>
        </p:nvSpPr>
        <p:spPr>
          <a:xfrm>
            <a:off x="2048171" y="5954958"/>
            <a:ext cx="20126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Calibri"/>
              </a:rPr>
              <a:t>Application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1AFAE-9437-1790-D18E-02EFCC9F8A0A}"/>
              </a:ext>
            </a:extLst>
          </p:cNvPr>
          <p:cNvSpPr txBox="1"/>
          <p:nvPr/>
        </p:nvSpPr>
        <p:spPr>
          <a:xfrm>
            <a:off x="7845549" y="5954958"/>
            <a:ext cx="2537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Calibri"/>
              </a:rPr>
              <a:t>Application Success Page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49ADA-90AF-062E-110B-E1BB3C9068A9}"/>
              </a:ext>
            </a:extLst>
          </p:cNvPr>
          <p:cNvSpPr txBox="1"/>
          <p:nvPr/>
        </p:nvSpPr>
        <p:spPr>
          <a:xfrm>
            <a:off x="328522" y="1300579"/>
            <a:ext cx="1170238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Application Page: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Users can fill out and submit a job application form.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Application Success Page: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Users see a confirmation message after applying.</a:t>
            </a:r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D99D55-B273-6254-044E-8FC0052E2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973" y="3026597"/>
            <a:ext cx="5828271" cy="2637723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79CDC5-EADA-1AC9-0E66-6131573D2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62" y="2968853"/>
            <a:ext cx="5807676" cy="27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9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4D6C4C-5C98-9073-79FB-D0A741C842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0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FD7FB-BF20-EC66-9F7B-A95E73215B53}"/>
              </a:ext>
            </a:extLst>
          </p:cNvPr>
          <p:cNvSpPr txBox="1"/>
          <p:nvPr/>
        </p:nvSpPr>
        <p:spPr>
          <a:xfrm>
            <a:off x="181439" y="872000"/>
            <a:ext cx="809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Important areas of the Project with screenshots</a:t>
            </a:r>
            <a:endParaRPr lang="en-GB" sz="2400" b="1" dirty="0">
              <a:solidFill>
                <a:schemeClr val="bg1"/>
              </a:solidFill>
              <a:latin typeface="Neue Machina" panose="00000500000000000000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44F5327-F834-7C83-D21F-86BBBBB405D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DA77FF-97D7-0118-85BE-4E1483DB6EDE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5E3A08F-7B26-633B-091A-C87E1DE11A5A}"/>
              </a:ext>
            </a:extLst>
          </p:cNvPr>
          <p:cNvSpPr txBox="1"/>
          <p:nvPr/>
        </p:nvSpPr>
        <p:spPr>
          <a:xfrm>
            <a:off x="2408576" y="5779905"/>
            <a:ext cx="20126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Email Dialog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7BE58-2EDA-4BDE-9924-32ADAD0600E8}"/>
              </a:ext>
            </a:extLst>
          </p:cNvPr>
          <p:cNvSpPr txBox="1"/>
          <p:nvPr/>
        </p:nvSpPr>
        <p:spPr>
          <a:xfrm>
            <a:off x="8267739" y="5779904"/>
            <a:ext cx="23112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My Applications Page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411A3-5A8F-B99D-E7D1-8A90527B831B}"/>
              </a:ext>
            </a:extLst>
          </p:cNvPr>
          <p:cNvSpPr txBox="1"/>
          <p:nvPr/>
        </p:nvSpPr>
        <p:spPr>
          <a:xfrm>
            <a:off x="225549" y="1403552"/>
            <a:ext cx="1170238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ea typeface="Calibri"/>
                <a:cs typeface="Calibri"/>
              </a:rPr>
              <a:t>Email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Dialog: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A popup dialog to enter and validate the user's email before applying.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My Applications Page: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Users can view the list of jobs they have applied for.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530D9A-C98D-7080-431D-B332F26C1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14" y="2973138"/>
            <a:ext cx="5570839" cy="2579887"/>
          </a:xfrm>
          <a:prstGeom prst="rect">
            <a:avLst/>
          </a:prstGeom>
        </p:spPr>
      </p:pic>
      <p:pic>
        <p:nvPicPr>
          <p:cNvPr id="8" name="Picture 7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DF5786A-0C95-363C-F2B0-C20063FAE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541" y="2975297"/>
            <a:ext cx="5601730" cy="257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6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D5B1590-8954-6EF1-A6C9-785B3FD80545}"/>
              </a:ext>
            </a:extLst>
          </p:cNvPr>
          <p:cNvSpPr/>
          <p:nvPr/>
        </p:nvSpPr>
        <p:spPr>
          <a:xfrm>
            <a:off x="11723" y="-35169"/>
            <a:ext cx="12192000" cy="6858000"/>
          </a:xfrm>
          <a:prstGeom prst="rect">
            <a:avLst/>
          </a:prstGeom>
          <a:solidFill>
            <a:srgbClr val="1510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8D6ED-DD80-8D48-2960-9D0F1FF02C71}"/>
              </a:ext>
            </a:extLst>
          </p:cNvPr>
          <p:cNvSpPr txBox="1"/>
          <p:nvPr/>
        </p:nvSpPr>
        <p:spPr>
          <a:xfrm>
            <a:off x="181439" y="872000"/>
            <a:ext cx="809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Conclusion</a:t>
            </a:r>
            <a:endParaRPr lang="en-GB" sz="2400" b="1" dirty="0">
              <a:solidFill>
                <a:schemeClr val="bg1"/>
              </a:solidFill>
              <a:latin typeface="Neue Machina" panose="00000500000000000000" pitchFamily="50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8AA73DC-DF05-BBA1-E636-5FF6B7C59E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7" y="0"/>
            <a:ext cx="2401377" cy="90222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47997-3F77-2664-A078-8CEB6B267A95}"/>
              </a:ext>
            </a:extLst>
          </p:cNvPr>
          <p:cNvCxnSpPr/>
          <p:nvPr/>
        </p:nvCxnSpPr>
        <p:spPr>
          <a:xfrm>
            <a:off x="323850" y="1352550"/>
            <a:ext cx="63055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237A49-3E47-71FB-8A16-B52B0889B81D}"/>
              </a:ext>
            </a:extLst>
          </p:cNvPr>
          <p:cNvSpPr txBox="1"/>
          <p:nvPr/>
        </p:nvSpPr>
        <p:spPr>
          <a:xfrm>
            <a:off x="319938" y="2075770"/>
            <a:ext cx="1120902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Job Board Lite is a simplified full-stack job board application built with Spring Boot and React. It allows users to browse, search, and apply for jobs with ease. The project demonstrates key full-stack development skills, including RESTful APIs, dynamic frontend components, and form handling. It meets core objectives while providing a solid foundation for future enhancements like authentication and advanced search.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2212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03A12-0AA4-00C6-4CFD-58A6489D245B}"/>
              </a:ext>
            </a:extLst>
          </p:cNvPr>
          <p:cNvSpPr txBox="1"/>
          <p:nvPr/>
        </p:nvSpPr>
        <p:spPr>
          <a:xfrm>
            <a:off x="1" y="2028617"/>
            <a:ext cx="550545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800" b="1" dirty="0">
                <a:solidFill>
                  <a:schemeClr val="bg1"/>
                </a:solidFill>
                <a:effectLst/>
                <a:latin typeface="Neue Machina" panose="00000500000000000000" pitchFamily="50" charset="0"/>
                <a:ea typeface="Calibri" panose="020F0502020204030204" pitchFamily="34" charset="0"/>
              </a:rPr>
              <a:t>Thank You</a:t>
            </a:r>
            <a:endParaRPr lang="en-GB" sz="11500" b="1" dirty="0">
              <a:solidFill>
                <a:schemeClr val="bg1"/>
              </a:solidFill>
              <a:latin typeface="Neue Machina" panose="00000500000000000000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9ED73-5AFE-1A76-96F6-922011A624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0623" y="0"/>
            <a:ext cx="2401377" cy="90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80</Words>
  <Application>Microsoft Office PowerPoint</Application>
  <PresentationFormat>Widescreen</PresentationFormat>
  <Paragraphs>17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Karan Soni</dc:creator>
  <cp:lastModifiedBy>Manish Kapoor</cp:lastModifiedBy>
  <cp:revision>669</cp:revision>
  <dcterms:created xsi:type="dcterms:W3CDTF">2023-02-09T10:19:33Z</dcterms:created>
  <dcterms:modified xsi:type="dcterms:W3CDTF">2025-05-04T12:29:32Z</dcterms:modified>
</cp:coreProperties>
</file>